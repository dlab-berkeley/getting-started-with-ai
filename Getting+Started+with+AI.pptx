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3244850" cx="5765800"/>
  <p:notesSz cx="5765800" cy="3244850"/>
  <p:embeddedFontLst>
    <p:embeddedFont>
      <p:font typeface="Tahoma"/>
      <p:regular r:id="rId44"/>
      <p:bold r:id="rId45"/>
    </p:embeddedFont>
    <p:embeddedFont>
      <p:font typeface="Arial Black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Tahoma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ArialBlack-regular.fntdata"/><Relationship Id="rId23" Type="http://schemas.openxmlformats.org/officeDocument/2006/relationships/slide" Target="slides/slide18.xml"/><Relationship Id="rId45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19072" y="611855"/>
            <a:ext cx="2727655" cy="478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523798" y="621096"/>
            <a:ext cx="3501390" cy="2261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23798" y="621096"/>
            <a:ext cx="3501390" cy="2261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ctrTitle"/>
          </p:nvPr>
        </p:nvSpPr>
        <p:spPr>
          <a:xfrm>
            <a:off x="1519072" y="611855"/>
            <a:ext cx="2727655" cy="478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/>
              <a:t>The AI Landscape</a:t>
            </a:r>
            <a:endParaRPr sz="2950"/>
          </a:p>
        </p:txBody>
      </p:sp>
      <p:sp>
        <p:nvSpPr>
          <p:cNvPr id="44" name="Google Shape;44;p7"/>
          <p:cNvSpPr txBox="1"/>
          <p:nvPr/>
        </p:nvSpPr>
        <p:spPr>
          <a:xfrm>
            <a:off x="1213954" y="1227270"/>
            <a:ext cx="333375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latin typeface="Calibri"/>
                <a:ea typeface="Calibri"/>
                <a:cs typeface="Calibri"/>
                <a:sym typeface="Calibri"/>
              </a:rPr>
              <a:t>Understanding Today’s AI Tools</a:t>
            </a:r>
            <a:endParaRPr sz="20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2139492" y="143782"/>
            <a:ext cx="148082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Roadmap</a:t>
            </a:r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523798" y="610346"/>
            <a:ext cx="46056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What is AI and how to interact with it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Conversational AI: ChatGPT, Claude, Gemini, Perplexity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Image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/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Video: DALL-E, Midjourney, NanoBanana, Sora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Everyday tasks: Grammarly, Notion, Otter, Copilot/Duet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Choosing the right tool for your needs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Getting started: Costs and Subscription Options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92289" y="899788"/>
            <a:ext cx="397573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134110" lvl="0" marL="1146175" marR="5080" rtl="0" algn="l">
              <a:lnSpc>
                <a:spcPct val="13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PART 1: UNDERSTANDING AI ASSISTANTS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an AI Assistant?</a:t>
            </a:r>
            <a:endParaRPr/>
          </a:p>
        </p:txBody>
      </p:sp>
      <p:sp>
        <p:nvSpPr>
          <p:cNvPr id="61" name="Google Shape;61;p10"/>
          <p:cNvSpPr txBox="1"/>
          <p:nvPr/>
        </p:nvSpPr>
        <p:spPr>
          <a:xfrm>
            <a:off x="523798" y="809716"/>
            <a:ext cx="44730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Large Language Model that uses natural language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 mix between a personal assistant and Google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Can help with: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895781" y="1731366"/>
            <a:ext cx="101600" cy="9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0"/>
          <p:cNvSpPr txBox="1"/>
          <p:nvPr/>
        </p:nvSpPr>
        <p:spPr>
          <a:xfrm>
            <a:off x="1060894" y="1750339"/>
            <a:ext cx="2170430" cy="9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02005" rtl="0" algn="l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Writing and editing Research and learning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Problem-solving and brainstorming Creative projects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1613484" y="143782"/>
            <a:ext cx="253492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AI Assistants Work</a:t>
            </a:r>
            <a:endParaRPr/>
          </a:p>
        </p:txBody>
      </p:sp>
      <p:sp>
        <p:nvSpPr>
          <p:cNvPr id="69" name="Google Shape;69;p11"/>
          <p:cNvSpPr txBox="1"/>
          <p:nvPr/>
        </p:nvSpPr>
        <p:spPr>
          <a:xfrm>
            <a:off x="523798" y="919318"/>
            <a:ext cx="42087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You type or speak a question or request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The AI processes your input and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answers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You can have back-and-forth conversations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The AI remembers context within a conversation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Think of it as texting with a very smart friend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2446224" y="143775"/>
            <a:ext cx="750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75" name="Google Shape;75;p12"/>
          <p:cNvSpPr txBox="1"/>
          <p:nvPr/>
        </p:nvSpPr>
        <p:spPr>
          <a:xfrm>
            <a:off x="523798" y="1522333"/>
            <a:ext cx="274256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Interacting with ChatGPT/Claude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558800" y="1160600"/>
            <a:ext cx="50211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Part 2: </a:t>
            </a: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THE MAJOR TEXT AI PLATFORMS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165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ChatGPT by OpenAI</a:t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347300" y="657650"/>
            <a:ext cx="4632600" cy="22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Most popular and widely used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GPTs: Custom versions for specific tasks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Can browse the web (Plus version)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DALL-E integration for images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Voice conversations on mobile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General purpose, creative writing, learning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60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ChatGPT Resources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347302" y="714075"/>
            <a:ext cx="4566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Unique Features: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Custom GPTs: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Pre-configured assistants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895781" y="1250810"/>
            <a:ext cx="101600" cy="946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4185F3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1053473" y="1380975"/>
            <a:ext cx="27039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Academic Writer 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Language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 Teacher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Recipe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 Creator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5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Fitness Coach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94900" y="2389575"/>
            <a:ext cx="42708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GPT Store: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Thousands of specialized GPTs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Memory: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Remembers preferences across chats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457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Claude by Anthropic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347300" y="545800"/>
            <a:ext cx="54186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Excellent at analysis and reasoning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Artifacts: Interactive previews of work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Projects: Organize related conversations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Can process long documents (books, reports)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Strong writing capabilities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311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Professional writing, document analysis, complex reasoning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4025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Claude Resources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347301" y="769500"/>
            <a:ext cx="48474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Unique Features: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Artifacts: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Live preview of documents, code, diagrams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Projects: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Keep related work together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Claude Code: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Desktop app for coding (advanced)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Document Upload: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PDFs, Word docs, spreadsheets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Style Customization: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Set writing preferences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387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Gemini by Google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47294" y="657659"/>
            <a:ext cx="4985385" cy="2248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Deep integration with Google services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Access to Gmail, Drive, Calendar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YouTube video summaries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Google Maps and Flights integration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Real-time information from search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Google users, travel planning, research with current info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3943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Gemini Resources</a:t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347300" y="769500"/>
            <a:ext cx="4869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Unique Features: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Extensions: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Connect to your Google apps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Workspace Integration: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Use in Docs, Sheets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Bard (now Gemini):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Web search built-in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Multi-modal: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Understands images and text together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Gemini Advanced: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More powerful reasoning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795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Perplexity</a:t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47300" y="657650"/>
            <a:ext cx="5328900" cy="22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AI-powered search engine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Always provides sources and citations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Real-time web information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Follow-up questions for deeper research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Academic and news search modes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Rigorous research, fact-checking, academic work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1166698" y="143782"/>
            <a:ext cx="3428365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DEMO: Comparing AI Assistants</a:t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514600" y="769625"/>
            <a:ext cx="4976400" cy="403200"/>
          </a:xfrm>
          <a:prstGeom prst="rect">
            <a:avLst/>
          </a:prstGeom>
          <a:solidFill>
            <a:srgbClr val="E5E5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155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“Help me plan a 3-day trip to Paris with a $1000 budget, including must-see attractions and local food recommendations”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47301" y="1363350"/>
            <a:ext cx="36027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to observe: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Response styles and formatting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Level of detail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Sources and citations (Perplexity)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Interactive features (Claude Artifacts)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16349" y="1160600"/>
            <a:ext cx="4531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PART 3: IMAGE AND VIDEO AI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1806199" y="143775"/>
            <a:ext cx="2403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Image Generation</a:t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347301" y="477475"/>
            <a:ext cx="4847400" cy="27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How it works: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Describe what you want in words (a “prompt”)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AI creates original images based on your description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You can refine and iterate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Common uses: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Presentations and documents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Social media content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Creative projects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Concept visualization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1321295" y="143782"/>
            <a:ext cx="311785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DALL-E 3 - Image Generation</a:t>
            </a:r>
            <a:endParaRPr/>
          </a:p>
        </p:txBody>
      </p:sp>
      <p:sp>
        <p:nvSpPr>
          <p:cNvPr id="149" name="Google Shape;149;p24"/>
          <p:cNvSpPr txBox="1"/>
          <p:nvPr/>
        </p:nvSpPr>
        <p:spPr>
          <a:xfrm>
            <a:off x="347301" y="475600"/>
            <a:ext cx="4654800" cy="2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Creates images from text descriptions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Built into ChatGPT Plus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Understands context from your conversation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Very easy to use - just describe what you want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Can iterate: ”make it more colorful”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Good at following complex instructions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Presentations, concepts, illustrations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1346925" y="143775"/>
            <a:ext cx="33588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Midjourney - Professional Art</a:t>
            </a:r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347301" y="473100"/>
            <a:ext cx="44769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Creates high-quality artistic images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Known for stunning, creative results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Best artistic quality available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Great for portraits and landscapes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Strong community for learning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Cost: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$10-60/month depending on usage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Professional creative work, art projects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1325422" y="143782"/>
            <a:ext cx="3109595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NanoBanana - Quick and Fun</a:t>
            </a:r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347301" y="475600"/>
            <a:ext cx="5180700" cy="2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Instant image generation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Simple, fun interface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Completely free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Perfect for beginners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Fast results for quick ideas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Great for casual use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Quick experiments, learning prompting, fun projects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673529" y="143782"/>
            <a:ext cx="241300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Sora - Video from Text</a:t>
            </a:r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347301" y="475600"/>
            <a:ext cx="4469700" cy="2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6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Creates realistic videos from text descriptions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Up to 60 seconds of video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By OpenAI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Current status: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Limited release (not fully public yet)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Very good quality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Promising, but still on development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Alternatives now: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Runway, Pika, Stable Video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/>
        </p:nvSpPr>
        <p:spPr>
          <a:xfrm>
            <a:off x="2190318" y="143782"/>
            <a:ext cx="138049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latin typeface="Calibri"/>
                <a:ea typeface="Calibri"/>
                <a:cs typeface="Calibri"/>
                <a:sym typeface="Calibri"/>
              </a:rPr>
              <a:t>Suno - Audio</a:t>
            </a:r>
            <a:endParaRPr sz="2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347294" y="1532963"/>
            <a:ext cx="13144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Audio Generation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696569" y="1160595"/>
            <a:ext cx="436880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PART 4: SPECIALIZED AI TOOLS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1583689" y="38232"/>
            <a:ext cx="2598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735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Grammarly</a:t>
            </a:r>
            <a:endParaRPr/>
          </a:p>
        </p:txBody>
      </p:sp>
      <p:sp>
        <p:nvSpPr>
          <p:cNvPr id="184" name="Google Shape;184;p30"/>
          <p:cNvSpPr txBox="1"/>
          <p:nvPr/>
        </p:nvSpPr>
        <p:spPr>
          <a:xfrm>
            <a:off x="347303" y="378600"/>
            <a:ext cx="17508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347302" y="602700"/>
            <a:ext cx="4832700" cy="26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-179070" lvl="0" marL="367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Checks grammar, spelling, and punctuation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Suggests tone and clarity improvements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Works in browser, desktop, and mobile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Real-time corrections as you type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Explains why changes are suggested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Adapts to formal/informal writing styles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Cost: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Free version available, Premium $12/month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Emails, documents, professional writing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1336751" y="143782"/>
            <a:ext cx="308610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Notion AI - Smart Workspace</a:t>
            </a:r>
            <a:endParaRPr/>
          </a:p>
        </p:txBody>
      </p:sp>
      <p:sp>
        <p:nvSpPr>
          <p:cNvPr id="191" name="Google Shape;191;p31"/>
          <p:cNvSpPr txBox="1"/>
          <p:nvPr/>
        </p:nvSpPr>
        <p:spPr>
          <a:xfrm>
            <a:off x="347300" y="473100"/>
            <a:ext cx="53067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Built into Notion note-taking app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Helps write, summarize, and brainstorm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Organizes and improves existing notes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Generate content from your notes: summaries, actions plans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Generate full documents, translate and rewrite text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Cost: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$10/month add-on to Notion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Note-taking, project management, documentation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1212837" y="143782"/>
            <a:ext cx="3334385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Otter.ai - Meeting Transcription</a:t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347301" y="473100"/>
            <a:ext cx="48624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Records and transcribes meetings automatically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Identifies different speakers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Creates searchable transcripts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Integrates with Zoom, Teams, Google Meet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Share highlights and action items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Cost: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Free for 300 minutes/month, Pro $10/month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Meetings, interviews, lectures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1151075" y="143775"/>
            <a:ext cx="3977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NotebookLM - Study Companion</a:t>
            </a:r>
            <a:endParaRPr/>
          </a:p>
        </p:txBody>
      </p:sp>
      <p:sp>
        <p:nvSpPr>
          <p:cNvPr id="203" name="Google Shape;203;p33"/>
          <p:cNvSpPr txBox="1"/>
          <p:nvPr/>
        </p:nvSpPr>
        <p:spPr>
          <a:xfrm>
            <a:off x="347301" y="473100"/>
            <a:ext cx="49809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What it does: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Upload your research papers, PDFs, and notes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AI becomes an expert on your materials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Strengths: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Creates summaries and study guides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Generates key concepts and Q&amp;A from your documents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Finds connections between different sources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Cost: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Free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Students, researchers, learning from documents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1147444" y="143782"/>
            <a:ext cx="3463925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Microsoft Copilot &amp; Google Duet</a:t>
            </a:r>
            <a:endParaRPr/>
          </a:p>
        </p:txBody>
      </p:sp>
      <p:sp>
        <p:nvSpPr>
          <p:cNvPr id="209" name="Google Shape;209;p34"/>
          <p:cNvSpPr txBox="1"/>
          <p:nvPr/>
        </p:nvSpPr>
        <p:spPr>
          <a:xfrm>
            <a:off x="347301" y="473100"/>
            <a:ext cx="52179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Microsoft Copilot: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Built into Word, Excel, PowerPoint, Outlook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Drafts documents, analyzes data, creates presentations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$30/month for Microsoft 365 users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Google Duet: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Similar for Google Workspace (Docs, Sheets, Slides, Gmail)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$30/month for Workspace users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Choose based on: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Which office suite you already use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Best for: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Daily office work, reports, presentations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157050" y="906775"/>
            <a:ext cx="55191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50695" lvl="0" marL="1762760" marR="5080" rtl="0" algn="l">
              <a:lnSpc>
                <a:spcPct val="13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PART 5: CHOOSING THE RIGHT TOOL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66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Framework</a:t>
            </a:r>
            <a:endParaRPr/>
          </a:p>
        </p:txBody>
      </p:sp>
      <p:sp>
        <p:nvSpPr>
          <p:cNvPr id="220" name="Google Shape;220;p36"/>
          <p:cNvSpPr txBox="1"/>
          <p:nvPr/>
        </p:nvSpPr>
        <p:spPr>
          <a:xfrm>
            <a:off x="347301" y="769500"/>
            <a:ext cx="45363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Consider these factors: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Task type: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Writing, research, creative, analysis?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Budget: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Free tier or paid subscription?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Privacy: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Personal or sensitive information?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Integration: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Need to work with existing tools?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Learning curve: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How much time to invest?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1581274" y="143775"/>
            <a:ext cx="3280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Recommendations</a:t>
            </a:r>
            <a:endParaRPr/>
          </a:p>
        </p:txBody>
      </p:sp>
      <p:sp>
        <p:nvSpPr>
          <p:cNvPr id="226" name="Google Shape;226;p37"/>
          <p:cNvSpPr txBox="1"/>
          <p:nvPr/>
        </p:nvSpPr>
        <p:spPr>
          <a:xfrm>
            <a:off x="523800" y="792275"/>
            <a:ext cx="4559700" cy="19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Just starting?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Try ChatGPT free version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Student?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NotebookLM + Perplexity (both free)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Professional writer?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Claude Pro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Google user?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Gemini integrates seamlessly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Creative projects?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ChatGPT Plus with DALL-E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Research heavy?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Perplexity Pro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1937016" y="143782"/>
            <a:ext cx="1887220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 vs Paid Tiers</a:t>
            </a:r>
            <a:endParaRPr/>
          </a:p>
        </p:txBody>
      </p:sp>
      <p:sp>
        <p:nvSpPr>
          <p:cNvPr id="232" name="Google Shape;232;p38"/>
          <p:cNvSpPr txBox="1"/>
          <p:nvPr/>
        </p:nvSpPr>
        <p:spPr>
          <a:xfrm>
            <a:off x="347301" y="477475"/>
            <a:ext cx="4573200" cy="27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Free Tiers Usually Include: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Basic conversations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Limited daily messages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Standard response speed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Paid Tiers ($20/month typical) Add: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Advanced models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Priority access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Additional features (web browsing, file uploads)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Higher message limits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975750" y="1160600"/>
            <a:ext cx="4256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PART 6: GETTING STARTED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1581277" y="143782"/>
            <a:ext cx="2598420" cy="340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465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First Steps</a:t>
            </a:r>
            <a:endParaRPr/>
          </a:p>
        </p:txBody>
      </p:sp>
      <p:sp>
        <p:nvSpPr>
          <p:cNvPr id="243" name="Google Shape;243;p40"/>
          <p:cNvSpPr txBox="1"/>
          <p:nvPr/>
        </p:nvSpPr>
        <p:spPr>
          <a:xfrm>
            <a:off x="476123" y="681700"/>
            <a:ext cx="47928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-227329" lvl="0" marL="240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Tahoma"/>
              <a:buAutoNum type="arabicPeriod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Start free: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Create account at ChatGPT or Claude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Tahoma"/>
              <a:buAutoNum type="arabicPeriod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Experiment: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Try different types of requests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Tahoma"/>
              <a:buAutoNum type="arabicPeriod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Learn prompting: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Be specific and clear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Tahoma"/>
              <a:buAutoNum type="arabicPeriod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Iterate: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Ask follow-up questions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Tahoma"/>
              <a:buAutoNum type="arabicPeriod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Explore: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Try specialized tools for your needs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Tahoma"/>
              <a:buAutoNum type="arabicPeriod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Stay informed: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AI tools evolve rapidly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1692732" y="143782"/>
            <a:ext cx="2376805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Tips for Better Results</a:t>
            </a:r>
            <a:endParaRPr/>
          </a:p>
        </p:txBody>
      </p:sp>
      <p:sp>
        <p:nvSpPr>
          <p:cNvPr id="249" name="Google Shape;249;p41"/>
          <p:cNvSpPr txBox="1"/>
          <p:nvPr/>
        </p:nvSpPr>
        <p:spPr>
          <a:xfrm>
            <a:off x="379300" y="919325"/>
            <a:ext cx="50598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Be specific: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“Write a 200-word email” vs “Write an email”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Provide context: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Explain the situation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Use examples: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Show what you’re looking for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Iterate: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“Make it more formal” or “Shorten this”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Verify: </a:t>
            </a: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Always fact-check important information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1903742" y="143782"/>
            <a:ext cx="1951989" cy="34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Privacy and Safety</a:t>
            </a:r>
            <a:endParaRPr/>
          </a:p>
        </p:txBody>
      </p:sp>
      <p:sp>
        <p:nvSpPr>
          <p:cNvPr id="255" name="Google Shape;255;p42"/>
          <p:cNvSpPr txBox="1"/>
          <p:nvPr/>
        </p:nvSpPr>
        <p:spPr>
          <a:xfrm>
            <a:off x="347302" y="642475"/>
            <a:ext cx="4980900" cy="22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Important considerations: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Never share passwords or sensitive data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Check your organization’s AI policy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Understand data retention policies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Use private/incognito modes when needed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Be aware of AI-generated content policies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Fact-check important information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830001" y="143775"/>
            <a:ext cx="4512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 how to use AI safe and efficiently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523800" y="854925"/>
            <a:ext cx="45129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17907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/>
              <a:t>AI tools are becoming part of everyday life</a:t>
            </a:r>
            <a:endParaRPr sz="1400"/>
          </a:p>
          <a:p>
            <a:pPr indent="-179070" lvl="0" marL="191770" rtl="0" algn="l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/>
              <a:t>They’re assistants, not replacements</a:t>
            </a:r>
            <a:endParaRPr sz="1400"/>
          </a:p>
          <a:p>
            <a:pPr indent="-179070" lvl="0" marL="19177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/>
              <a:t>Start small, grow your skills gradually</a:t>
            </a:r>
            <a:endParaRPr sz="1400"/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/>
              <a:t>Focus on tools that solve your real problems</a:t>
            </a:r>
            <a:endParaRPr sz="1400"/>
          </a:p>
          <a:p>
            <a:pPr indent="-179070" lvl="0" marL="19177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/>
              <a:t>Stay curious and keep learning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19005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Questions?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2361425" y="143775"/>
            <a:ext cx="1425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267" name="Google Shape;267;p44"/>
          <p:cNvSpPr txBox="1"/>
          <p:nvPr/>
        </p:nvSpPr>
        <p:spPr>
          <a:xfrm>
            <a:off x="347302" y="476200"/>
            <a:ext cx="45807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Getting Started: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ChatGPT: chat.openai.com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Claude: claude.ai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Gemini: gemini.google.com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Perplexity: perplexity.ai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1400">
                <a:latin typeface="Arial Black"/>
                <a:ea typeface="Arial Black"/>
                <a:cs typeface="Arial Black"/>
                <a:sym typeface="Arial Black"/>
              </a:rPr>
              <a:t>Learn More:</a:t>
            </a:r>
            <a:endParaRPr sz="1400">
              <a:latin typeface="Arial Black"/>
              <a:ea typeface="Arial Black"/>
              <a:cs typeface="Arial Black"/>
              <a:sym typeface="Arial Black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OpenAI Learning: openai.com/blog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Anthropic Research: anthropic.com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-179070" lvl="0" marL="367665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4185F3"/>
              </a:buClr>
              <a:buSzPts val="1400"/>
              <a:buFont typeface="Arial"/>
              <a:buChar char="•"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AI newsletters: The Rundown, AI Breakfast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